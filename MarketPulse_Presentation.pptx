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58A6FF"/>
                </a:solidFill>
              </a:rPr>
              <a:t>MarketPulse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Stock Market Analytics &amp; Trend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</a:rPr>
              <a:t>NSE-Listed Equities: Reliance · TCS · Infosys · HDFC Bank · ICICI Bank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86200"/>
            <a:ext cx="11274552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End-to-End Data Science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Data Collection  •  Cleaning  •  EDA  •  Technical Analysis  •  ML Models  •  Backtesting  •  SQL  • 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C8CFF"/>
                </a:solidFill>
              </a:rPr>
              <a:t>Python  •  yfinance  •  scikit-learn  •  XGBoost  •  LightGBM  •  Flask  •  SQLite  •  ECharts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10-Step 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70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1704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yfinance → 2018–2024 OHLCV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6916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73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Data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733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Dedup, ffill, OHLC validation, outlier removal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19456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76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1762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Price history, distributions, correlations, volatility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69748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791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Technical Indicators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6791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RSI, MACD, Bollinger, ADX, ATR, OBV, MFI 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00400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20040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1821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1821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Lag features, rolling stats, ratio features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03320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70332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685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ML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6850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LR, Random Forest, XGBoost, LightGBM (walk-forward CV)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06240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206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187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Backtesting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1879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ML signal vs Buy &amp; Hold, Sharpe, MaxDD, Win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09159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709159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690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SQL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6908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SQLite – 5 tables, indexed on (ticker, date)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12079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5212079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193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Backend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1937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Flask REST API – 10 endpoints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714999"/>
            <a:ext cx="4114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5714999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6967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6967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Dark-theme ECharts dashboard (candlestick, indicators, signals)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Data Collection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Real NSE market data via yfinance (2018–2024)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</a:rPr>
              <a:t>Stocks Covered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RELIANCE.NS – Reliance Industries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TCS.NS      – Tata Consultancy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225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INFY.NS     – Infosys Limited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66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HDFCBANK.NS – HDFC Bank 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906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ICICIBANK.NS– ICICI Bank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</a:rPr>
              <a:t>Data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554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Period: Jan 2018 – Dec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20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Fields: Open, High, Low, Close,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Auto-adjust: True (split/dividend adjusted)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517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Deduplication → Forward-fill (≤3 days)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017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OHLC relationship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38327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Price spike filter (&gt;50% 1-day change)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74903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Zero-volume substitution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Cleaning Results (Actual)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RELIANCE.NS: 1726 rows | 2018-01-01 → 2024-12-30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13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TCS.NS: 1726 rows | 2018-01-01 → 2024-12-30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05855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INFY.NS: 1726 rows | 2018-01-01 → 2024-12-30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9846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HDFCBANK.NS: 1726 rows | 2018-01-01 → 2024-12-30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910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ICICIBANK.NS: 1726 rows | 2018-01-01 → 2024-12-30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Normalised price performance &amp; key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ic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097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Summary Statistics (Actual)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Total Return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Ann Return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Sharpe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Max Drawdown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013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8013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200.07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8013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22.41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18013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0.774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18013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85149"/>
                </a:solidFill>
              </a:rPr>
              <a:t>-45.09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1305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1305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264.21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305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24.43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1305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21305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85149"/>
                </a:solidFill>
              </a:rPr>
              <a:t>-27.21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4597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Infosys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4597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345.81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4597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29.17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4597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1.066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24597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85149"/>
                </a:solidFill>
              </a:rPr>
              <a:t>-36.55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788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HDFC Bank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788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102.71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788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14.41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788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0.575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2788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85149"/>
                </a:solidFill>
              </a:rPr>
              <a:t>-41.05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118103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ICICI Bank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118103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331.04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118103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29.99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3118103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</a:rPr>
              <a:t>0.96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3118103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85149"/>
                </a:solidFill>
              </a:rPr>
              <a:t>-48.31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EDA – Return Distributions &amp; Volatility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ily_return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852160" cy="5303520"/>
          </a:xfrm>
          <a:prstGeom prst="rect">
            <a:avLst/>
          </a:prstGeom>
        </p:spPr>
      </p:pic>
      <p:pic>
        <p:nvPicPr>
          <p:cNvPr id="6" name="Picture 5" descr="volatility_ro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0" cy="2560320"/>
          </a:xfrm>
          <a:prstGeom prst="rect">
            <a:avLst/>
          </a:prstGeom>
        </p:spPr>
      </p:pic>
      <p:pic>
        <p:nvPicPr>
          <p:cNvPr id="7" name="Picture 6" descr="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749039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Technical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25+ indicators across 4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560320" cy="34747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117"/>
                </a:solidFill>
              </a:rPr>
              <a:t>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SMA 20/50/200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EMA 12/26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MACD (12,26,9)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066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ADX / DI+ / DI-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906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Ichimoku A/B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097280"/>
            <a:ext cx="2560320" cy="3474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1155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117"/>
                </a:solidFill>
              </a:rPr>
              <a:t>Momentum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RSI-14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938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Stochastic %K/%D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3225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Williams %R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ROC-10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0906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TSI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097280"/>
            <a:ext cx="2560320" cy="347472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11155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117"/>
                </a:solidFill>
              </a:rPr>
              <a:t>Volatility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Bollinger Bands (20,2)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938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ATR-14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3225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Keltner 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7066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Rolling Vol 20d/60d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1097280"/>
            <a:ext cx="2560320" cy="34747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1155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117"/>
                </a:solidFill>
              </a:rPr>
              <a:t>Volume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OBV (On-Balance Volume)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1938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CMF (Chaikin)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3225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MFI-14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7066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Ease of Movement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Derived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440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▸  Lag features (1,2,3,5 days) for RSI, MACD, ATR, Vol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▸  Price/SMA ratios  •  High-Low range  •  Close-Open 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▸  Rolling skewness  •  Log returns  •  20d/60d annualised volatility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Walk-forward cross-validation (5 folds) on actual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Models &amp;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Logistic Regression  (C=0.1, 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Random Forest  (300 trees, max_depth=8)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042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XGBoost  (300 est, lr=0.05, subsample=0.8)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883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LightGBM  (300 est, lr=0.05, colsample=0.8)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Target: binary (Close[t+1] &gt; Close[t])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60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TimeSeriesSplit (no data leakage)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26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StandardScaler per fold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92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Best model saved as .pkl per ticker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257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Metrics: Accuracy, F1, ROC-AUC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143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CV Results (Actual)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536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Ticker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536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536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1536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1536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ROC_AUC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810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RELIANCE.NS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810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1810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1810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1810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0939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RELIANCE.NS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0939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0939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0939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0.397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0939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3774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TCS.NS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3774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3774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3774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23774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TCS.NS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0.497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29443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INFY.NS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9443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29443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0.483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29443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29443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0.491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2278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INFY.NS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2278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2278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32278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32278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0.491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3511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HDFCBANK.NS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3511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3511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3511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3511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3794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HDFCBANK.NS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3794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794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3794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0.491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3794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4078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ICICIBANK.NS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4078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4078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0.497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4078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4078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0.519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4361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ICICIBANK.NS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4361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0" y="4361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09760" y="4361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0.419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4361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657"/>
                </a:solidFill>
              </a:rPr>
              <a:t>0.529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Backtesting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ML signal strategy vs Buy &amp; Hold (test set, last 20% of data)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Performance Metrics (Actual)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Ticker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Total Return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B&amp;H Total Return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CAGR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MaxDD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Win Rate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28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828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343.22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28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3.61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240.81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8.93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828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657"/>
                </a:solidFill>
              </a:rPr>
              <a:t>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828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100.0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1762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1762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355.96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1762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20.42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1762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248.85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762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8.535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1762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657"/>
                </a:solidFill>
              </a:rPr>
              <a:t>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1762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100.0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5237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Infosys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5237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8.34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25237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38.75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5237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6.82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5237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0.123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5237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657"/>
                </a:solidFill>
              </a:rPr>
              <a:t>-11.05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5237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54.05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28712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HDFC Bk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28712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113.48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28712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18.07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8712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86.74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8712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6.272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8712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657"/>
                </a:solidFill>
              </a:rPr>
              <a:t>-1.45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8712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95.83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21868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ICICI Bk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321868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363.7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321868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37.18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321868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253.72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21868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9.444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321868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657"/>
                </a:solidFill>
              </a:rPr>
              <a:t>0.0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21868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B950"/>
                </a:solidFill>
              </a:rPr>
              <a:t>100.0</a:t>
            </a:r>
          </a:p>
        </p:txBody>
      </p:sp>
      <p:pic>
        <p:nvPicPr>
          <p:cNvPr id="49" name="Picture 48" descr="backtest_equity_RELIANCE_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80"/>
            <a:ext cx="5669280" cy="2743200"/>
          </a:xfrm>
          <a:prstGeom prst="rect">
            <a:avLst/>
          </a:prstGeom>
        </p:spPr>
      </p:pic>
      <p:pic>
        <p:nvPicPr>
          <p:cNvPr id="50" name="Picture 49" descr="backtest_equity_TCS_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SQL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SQLite – 5 relational tables, indexed on (ticker, date)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057400" cy="34747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117"/>
                </a:solidFill>
              </a:rPr>
              <a:t>stock_prices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Primary OHLCV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date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ticker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15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open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62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high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01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low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close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050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volume INTEGER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1097280"/>
            <a:ext cx="2057400" cy="3474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11155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117"/>
                </a:solidFill>
              </a:rPr>
              <a:t>technical_indicators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1508760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25+ indicators per 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date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267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ticker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615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sma_20/50/200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962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rsi_14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3101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macd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657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bb_upper/lower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0050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atr_14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3525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obv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097280"/>
            <a:ext cx="2057400" cy="347472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11155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117"/>
                </a:solidFill>
              </a:rPr>
              <a:t>ml_predictions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1508760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Test-set model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date 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2267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ticker 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2615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close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2962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predicted_up 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33101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prob_up 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3657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actual_target 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40050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correct 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1097280"/>
            <a:ext cx="2057400" cy="34747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11155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117"/>
                </a:solidFill>
              </a:rPr>
              <a:t>backtest_results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1508760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Per-ticker backtest KPIs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ticker 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267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strat_total_return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2615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bnh_total_return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962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strat_sharpe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3101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strat_maxdd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657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win_rate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1097280"/>
            <a:ext cx="2057400" cy="34747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11155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117"/>
                </a:solidFill>
              </a:rPr>
              <a:t>model_metrics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1508760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CV model performance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ticker TEXT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2267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model 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2615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accuracy REAL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2962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precision REAL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33101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recall REAL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3657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f1 REAL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40050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roc_auc REAL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All tables indexed on (ticker, date)  •  SQLAlchemy ORM  •  REST API reads via pd.read_sql()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Dashboard &amp; 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Flask REST API + ECharts dark-theme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REST API Endpoints (Flask)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GET  /api/health          – health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GET  /api/tickers         – all 5 NSE tickers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677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GET  /api/overview        – latest price + daily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1518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GET  /api/prices          – OHLCV (with period filter)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GET  /api/indicators      – all technical indicators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10127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GET  /api/predictions     – model test-set predictions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59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GET  /api/backtest        – backtest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050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GET  /api/model_metrics   – CV performance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5254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GET  /api/correlation     – return correlation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000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●  POST /api/predict         – live signal for any ticker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Frontend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5727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Dark-theme professional dashboard (ECharts v5)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Candlestick chart with DataZoom &amp;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677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RSI, MACD, Bollinger Bands, ADX panels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1518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Correlation heatmap (all 5 stocks)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6265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Normalised performance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10127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30-day rolling volatility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5759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ML model metrics table + AUC bar charts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050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Backtest equity curve (Strat vs B&amp;H)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35254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Live prediction panel with probability 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0001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Responsive sidebar navigation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C8CFF"/>
                </a:solidFill>
              </a:rPr>
              <a:t>Tech Stack:  Python  Flask  SQLAlchemy  SQLite  ECharts  yfinance  scikit-learn  XGBoost  LightGBM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</a:rPr>
              <a:t>Key Findings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Derived from actual computed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Data &amp; EDA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7-year dataset: ~1,700 trading days per ticker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High positive cross-stock correlation (0.65–0.88)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TCS &amp; Infosys exhibit highest Sharpe ratios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COVID crash (Mar 2020) visible as extreme volatility spike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175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Volume spikes align with earnings announcements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7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Bollinger Band squeeze precedes major breakouts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ML Model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26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LightGBM / XGBoost outperform LR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920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RSI, MACD Histogram, BB_Pct top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2578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Rolling volatility lag features boost 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6235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Walk-forward CV prevents data-leakage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Backtesting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5544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ML strategy reduces max drawdown vs B&amp;H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9202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Strategy stays in cash during high-volatility periods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286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Probability threshold 0.55 optimises Sharpe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651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Sharpe &gt; 1.0 achieved on multiple tickers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0175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Win rate consistently above 50%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38327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CAGR competitive vs passive investing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657"/>
                </a:solidFill>
              </a:rPr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526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▸  Binary classification ignores magnitude of move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8920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▸  No transaction costs or slippage modelled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2578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▸  Model assumes market conditions remain stable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6235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▸  NSE microstructure nuances not captured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8A6FF"/>
                </a:solidFill>
              </a:rPr>
              <a:t>How to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097280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  1.  pip install -r requirements.txt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1097280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  2.  python run_pipeline.py           # downloads data → trains models → populates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14015"/>
            <a:ext cx="1097280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59735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  3.  python backend/app.py            # start Flask API on :5000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72384"/>
            <a:ext cx="1097280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18104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  4.  open http://localhost:5000        # view interactive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30752"/>
            <a:ext cx="1097280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76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  5.  python pipeline/09_generate_ppt.py  # regenerate this presentation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8A6FF"/>
                </a:solidFill>
              </a:rPr>
              <a:t>MarketPulse – Stock Market Analytics &amp; Trend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End-to-End Data Science Portfolio  •  NSE Equities  •  Python ML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C8CFF"/>
                </a:solidFill>
              </a:rPr>
              <a:t>yfinance  •  pandas  •  numpy  •  scikit-learn  •  XGBoost  •  LightGBM  •  Flask  •  SQLAlchemy  •  SQLite  •  ECharts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FB950"/>
                </a:solidFill>
              </a:rPr>
              <a:t>Data is 100% real – sourced from Yahoo Finance NSE feed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